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useo RMIT VN Bold" charset="1" panose="02000000000000000000"/>
      <p:regular r:id="rId16"/>
    </p:embeddedFont>
    <p:embeddedFont>
      <p:font typeface="Museo RMIT VN Light" charset="1" panose="02000000000000000000"/>
      <p:regular r:id="rId17"/>
    </p:embeddedFont>
    <p:embeddedFont>
      <p:font typeface="Aptos Bold" charset="1" panose="020B0004020202020204"/>
      <p:regular r:id="rId18"/>
    </p:embeddedFont>
    <p:embeddedFont>
      <p:font typeface="Aptos" charset="1" panose="020B0004020202020204"/>
      <p:regular r:id="rId19"/>
    </p:embeddedFont>
    <p:embeddedFont>
      <p:font typeface="Aptos Italics" charset="1" panose="020B000402020209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245707"/>
            <a:ext cx="16230600" cy="3012805"/>
          </a:xfrm>
          <a:custGeom>
            <a:avLst/>
            <a:gdLst/>
            <a:ahLst/>
            <a:cxnLst/>
            <a:rect r="r" b="b" t="t" l="l"/>
            <a:pathLst>
              <a:path h="3012805" w="16230600">
                <a:moveTo>
                  <a:pt x="0" y="0"/>
                </a:moveTo>
                <a:lnTo>
                  <a:pt x="16230600" y="0"/>
                </a:lnTo>
                <a:lnTo>
                  <a:pt x="16230600" y="3012806"/>
                </a:lnTo>
                <a:lnTo>
                  <a:pt x="0" y="3012806"/>
                </a:lnTo>
                <a:lnTo>
                  <a:pt x="0" y="0"/>
                </a:lnTo>
                <a:close/>
              </a:path>
            </a:pathLst>
          </a:custGeom>
          <a:blipFill>
            <a:blip r:embed="rId2"/>
            <a:stretch>
              <a:fillRect l="0" t="0" r="0" b="0"/>
            </a:stretch>
          </a:blipFill>
        </p:spPr>
      </p:sp>
      <p:grpSp>
        <p:nvGrpSpPr>
          <p:cNvPr name="Group 3" id="3"/>
          <p:cNvGrpSpPr/>
          <p:nvPr/>
        </p:nvGrpSpPr>
        <p:grpSpPr>
          <a:xfrm rot="0">
            <a:off x="4396352" y="6624086"/>
            <a:ext cx="2826394" cy="2255836"/>
            <a:chOff x="0" y="0"/>
            <a:chExt cx="3768525" cy="3007781"/>
          </a:xfrm>
        </p:grpSpPr>
        <p:sp>
          <p:nvSpPr>
            <p:cNvPr name="TextBox 4" id="4"/>
            <p:cNvSpPr txBox="true"/>
            <p:nvPr/>
          </p:nvSpPr>
          <p:spPr>
            <a:xfrm rot="0">
              <a:off x="0" y="0"/>
              <a:ext cx="3768525" cy="435073"/>
            </a:xfrm>
            <a:prstGeom prst="rect">
              <a:avLst/>
            </a:prstGeom>
          </p:spPr>
          <p:txBody>
            <a:bodyPr anchor="t" rtlCol="false" tIns="0" lIns="0" bIns="0" rIns="0">
              <a:spAutoFit/>
            </a:bodyPr>
            <a:lstStyle/>
            <a:p>
              <a:pPr algn="l">
                <a:lnSpc>
                  <a:spcPts val="2588"/>
                </a:lnSpc>
              </a:pPr>
              <a:r>
                <a:rPr lang="en-US" b="true" sz="2156" spc="79">
                  <a:solidFill>
                    <a:srgbClr val="FFFFFF"/>
                  </a:solidFill>
                  <a:latin typeface="Museo RMIT VN Bold"/>
                  <a:ea typeface="Museo RMIT VN Bold"/>
                  <a:cs typeface="Museo RMIT VN Bold"/>
                  <a:sym typeface="Museo RMIT VN Bold"/>
                </a:rPr>
                <a:t>Giáo viên thực hiện</a:t>
              </a:r>
            </a:p>
          </p:txBody>
        </p:sp>
        <p:sp>
          <p:nvSpPr>
            <p:cNvPr name="TextBox 5" id="5"/>
            <p:cNvSpPr txBox="true"/>
            <p:nvPr/>
          </p:nvSpPr>
          <p:spPr>
            <a:xfrm rot="0">
              <a:off x="246968" y="2572708"/>
              <a:ext cx="3022422" cy="435073"/>
            </a:xfrm>
            <a:prstGeom prst="rect">
              <a:avLst/>
            </a:prstGeom>
          </p:spPr>
          <p:txBody>
            <a:bodyPr anchor="t" rtlCol="false" tIns="0" lIns="0" bIns="0" rIns="0">
              <a:spAutoFit/>
            </a:bodyPr>
            <a:lstStyle/>
            <a:p>
              <a:pPr algn="just">
                <a:lnSpc>
                  <a:spcPts val="2588"/>
                </a:lnSpc>
              </a:pPr>
              <a:r>
                <a:rPr lang="en-US" sz="2156">
                  <a:solidFill>
                    <a:srgbClr val="FFEA00"/>
                  </a:solidFill>
                  <a:latin typeface="Museo RMIT VN Light"/>
                  <a:ea typeface="Museo RMIT VN Light"/>
                  <a:cs typeface="Museo RMIT VN Light"/>
                  <a:sym typeface="Museo RMIT VN Light"/>
                </a:rPr>
                <a:t> Phạm Chí Thanh</a:t>
              </a:r>
            </a:p>
          </p:txBody>
        </p:sp>
        <p:grpSp>
          <p:nvGrpSpPr>
            <p:cNvPr name="Group 6" id="6"/>
            <p:cNvGrpSpPr/>
            <p:nvPr/>
          </p:nvGrpSpPr>
          <p:grpSpPr>
            <a:xfrm rot="0">
              <a:off x="853486" y="531293"/>
              <a:ext cx="1809385" cy="1726990"/>
              <a:chOff x="0" y="0"/>
              <a:chExt cx="4139128" cy="3950641"/>
            </a:xfrm>
          </p:grpSpPr>
          <p:sp>
            <p:nvSpPr>
              <p:cNvPr name="Freeform 7" id="7"/>
              <p:cNvSpPr/>
              <p:nvPr/>
            </p:nvSpPr>
            <p:spPr>
              <a:xfrm flipH="false" flipV="false" rot="0">
                <a:off x="88503" y="3155"/>
                <a:ext cx="3961876" cy="3944279"/>
              </a:xfrm>
              <a:custGeom>
                <a:avLst/>
                <a:gdLst/>
                <a:ahLst/>
                <a:cxnLst/>
                <a:rect r="r" b="b" t="t" l="l"/>
                <a:pathLst>
                  <a:path h="3944279" w="3961876">
                    <a:moveTo>
                      <a:pt x="1981089" y="20"/>
                    </a:moveTo>
                    <a:cubicBezTo>
                      <a:pt x="1274334" y="-3155"/>
                      <a:pt x="620030" y="372003"/>
                      <a:pt x="265700" y="983508"/>
                    </a:cubicBezTo>
                    <a:cubicBezTo>
                      <a:pt x="-88630" y="1595013"/>
                      <a:pt x="-88503" y="2349266"/>
                      <a:pt x="265700" y="2960771"/>
                    </a:cubicBezTo>
                    <a:cubicBezTo>
                      <a:pt x="619903" y="3572276"/>
                      <a:pt x="1274334" y="3947434"/>
                      <a:pt x="1980962" y="3944259"/>
                    </a:cubicBezTo>
                    <a:cubicBezTo>
                      <a:pt x="2687590" y="3947434"/>
                      <a:pt x="3342021" y="3572276"/>
                      <a:pt x="3696224" y="2960771"/>
                    </a:cubicBezTo>
                    <a:cubicBezTo>
                      <a:pt x="4050427" y="2349266"/>
                      <a:pt x="4050427" y="1595013"/>
                      <a:pt x="3696224" y="983508"/>
                    </a:cubicBezTo>
                    <a:cubicBezTo>
                      <a:pt x="3342021" y="372003"/>
                      <a:pt x="2687717" y="-3155"/>
                      <a:pt x="1981089" y="20"/>
                    </a:cubicBezTo>
                    <a:close/>
                  </a:path>
                </a:pathLst>
              </a:custGeom>
              <a:blipFill>
                <a:blip r:embed="rId3"/>
                <a:stretch>
                  <a:fillRect l="0" t="-8483" r="0" b="-8483"/>
                </a:stretch>
              </a:blipFill>
              <a:ln cap="sq">
                <a:noFill/>
                <a:prstDash val="solid"/>
                <a:miter/>
              </a:ln>
            </p:spPr>
          </p:sp>
        </p:grpSp>
      </p:grpSp>
      <p:sp>
        <p:nvSpPr>
          <p:cNvPr name="Freeform 8" id="8"/>
          <p:cNvSpPr/>
          <p:nvPr/>
        </p:nvSpPr>
        <p:spPr>
          <a:xfrm flipH="false" flipV="false" rot="0">
            <a:off x="589229" y="5696988"/>
            <a:ext cx="1654581" cy="1854195"/>
          </a:xfrm>
          <a:custGeom>
            <a:avLst/>
            <a:gdLst/>
            <a:ahLst/>
            <a:cxnLst/>
            <a:rect r="r" b="b" t="t" l="l"/>
            <a:pathLst>
              <a:path h="1854195" w="1654581">
                <a:moveTo>
                  <a:pt x="0" y="0"/>
                </a:moveTo>
                <a:lnTo>
                  <a:pt x="1654581" y="0"/>
                </a:lnTo>
                <a:lnTo>
                  <a:pt x="1654581" y="1854195"/>
                </a:lnTo>
                <a:lnTo>
                  <a:pt x="0" y="1854195"/>
                </a:lnTo>
                <a:lnTo>
                  <a:pt x="0" y="0"/>
                </a:lnTo>
                <a:close/>
              </a:path>
            </a:pathLst>
          </a:custGeom>
          <a:blipFill>
            <a:blip r:embed="rId4"/>
            <a:stretch>
              <a:fillRect l="0" t="0" r="0" b="0"/>
            </a:stretch>
          </a:blipFill>
        </p:spPr>
      </p:sp>
      <p:sp>
        <p:nvSpPr>
          <p:cNvPr name="Freeform 9" id="9"/>
          <p:cNvSpPr/>
          <p:nvPr/>
        </p:nvSpPr>
        <p:spPr>
          <a:xfrm flipH="false" flipV="false" rot="0">
            <a:off x="0" y="0"/>
            <a:ext cx="18288000" cy="2880360"/>
          </a:xfrm>
          <a:custGeom>
            <a:avLst/>
            <a:gdLst/>
            <a:ahLst/>
            <a:cxnLst/>
            <a:rect r="r" b="b" t="t" l="l"/>
            <a:pathLst>
              <a:path h="2880360" w="18288000">
                <a:moveTo>
                  <a:pt x="0" y="0"/>
                </a:moveTo>
                <a:lnTo>
                  <a:pt x="18288000" y="0"/>
                </a:lnTo>
                <a:lnTo>
                  <a:pt x="18288000" y="2880360"/>
                </a:lnTo>
                <a:lnTo>
                  <a:pt x="0" y="2880360"/>
                </a:lnTo>
                <a:lnTo>
                  <a:pt x="0" y="0"/>
                </a:lnTo>
                <a:close/>
              </a:path>
            </a:pathLst>
          </a:custGeom>
          <a:blipFill>
            <a:blip r:embed="rId5"/>
            <a:stretch>
              <a:fillRect l="0" t="0" r="0" b="0"/>
            </a:stretch>
          </a:blipFill>
        </p:spPr>
      </p:sp>
      <p:sp>
        <p:nvSpPr>
          <p:cNvPr name="Freeform 10" id="10"/>
          <p:cNvSpPr/>
          <p:nvPr/>
        </p:nvSpPr>
        <p:spPr>
          <a:xfrm flipH="false" flipV="false" rot="0">
            <a:off x="0" y="0"/>
            <a:ext cx="18288000" cy="2880360"/>
          </a:xfrm>
          <a:custGeom>
            <a:avLst/>
            <a:gdLst/>
            <a:ahLst/>
            <a:cxnLst/>
            <a:rect r="r" b="b" t="t" l="l"/>
            <a:pathLst>
              <a:path h="2880360" w="18288000">
                <a:moveTo>
                  <a:pt x="0" y="0"/>
                </a:moveTo>
                <a:lnTo>
                  <a:pt x="18288000" y="0"/>
                </a:lnTo>
                <a:lnTo>
                  <a:pt x="18288000" y="2880360"/>
                </a:lnTo>
                <a:lnTo>
                  <a:pt x="0" y="2880360"/>
                </a:lnTo>
                <a:lnTo>
                  <a:pt x="0" y="0"/>
                </a:lnTo>
                <a:close/>
              </a:path>
            </a:pathLst>
          </a:custGeom>
          <a:blipFill>
            <a:blip r:embed="rId6"/>
            <a:stretch>
              <a:fillRect l="0" t="0" r="0" b="0"/>
            </a:stretch>
          </a:blipFill>
        </p:spPr>
      </p:sp>
      <p:sp>
        <p:nvSpPr>
          <p:cNvPr name="TextBox 11" id="11"/>
          <p:cNvSpPr txBox="true"/>
          <p:nvPr/>
        </p:nvSpPr>
        <p:spPr>
          <a:xfrm rot="0">
            <a:off x="1028700" y="4083121"/>
            <a:ext cx="16230600" cy="969387"/>
          </a:xfrm>
          <a:prstGeom prst="rect">
            <a:avLst/>
          </a:prstGeom>
        </p:spPr>
        <p:txBody>
          <a:bodyPr anchor="t" rtlCol="false" tIns="0" lIns="0" bIns="0" rIns="0">
            <a:spAutoFit/>
          </a:bodyPr>
          <a:lstStyle/>
          <a:p>
            <a:pPr algn="ctr">
              <a:lnSpc>
                <a:spcPts val="7611"/>
              </a:lnSpc>
            </a:pPr>
            <a:r>
              <a:rPr lang="en-US" b="true" sz="6453" spc="-322">
                <a:solidFill>
                  <a:srgbClr val="000054"/>
                </a:solidFill>
                <a:latin typeface="Aptos Bold"/>
                <a:ea typeface="Aptos Bold"/>
                <a:cs typeface="Aptos Bold"/>
                <a:sym typeface="Aptos Bold"/>
              </a:rPr>
              <a:t>TÊN CỦA SẢN PHẨM / SÁNG KIẾN / DỰ ÁN</a:t>
            </a:r>
          </a:p>
        </p:txBody>
      </p:sp>
      <p:sp>
        <p:nvSpPr>
          <p:cNvPr name="TextBox 12" id="12"/>
          <p:cNvSpPr txBox="true"/>
          <p:nvPr/>
        </p:nvSpPr>
        <p:spPr>
          <a:xfrm rot="0">
            <a:off x="8395088" y="6718687"/>
            <a:ext cx="7229682" cy="971550"/>
          </a:xfrm>
          <a:prstGeom prst="rect">
            <a:avLst/>
          </a:prstGeom>
        </p:spPr>
        <p:txBody>
          <a:bodyPr anchor="t" rtlCol="false" tIns="0" lIns="0" bIns="0" rIns="0">
            <a:spAutoFit/>
          </a:bodyPr>
          <a:lstStyle/>
          <a:p>
            <a:pPr algn="l">
              <a:lnSpc>
                <a:spcPts val="2999"/>
              </a:lnSpc>
            </a:pPr>
            <a:r>
              <a:rPr lang="en-US" sz="2499" spc="92" b="true">
                <a:solidFill>
                  <a:srgbClr val="FFFFFF"/>
                </a:solidFill>
                <a:latin typeface="Aptos Bold"/>
                <a:ea typeface="Aptos Bold"/>
                <a:cs typeface="Aptos Bold"/>
                <a:sym typeface="Aptos Bold"/>
              </a:rPr>
              <a:t>Đơn vị công tác:</a:t>
            </a:r>
          </a:p>
          <a:p>
            <a:pPr algn="l">
              <a:lnSpc>
                <a:spcPts val="2400"/>
              </a:lnSpc>
            </a:pPr>
            <a:r>
              <a:rPr lang="en-US" sz="2000" spc="74">
                <a:solidFill>
                  <a:srgbClr val="FFFFFF"/>
                </a:solidFill>
                <a:latin typeface="Aptos"/>
                <a:ea typeface="Aptos"/>
                <a:cs typeface="Aptos"/>
                <a:sym typeface="Aptos"/>
              </a:rPr>
              <a:t>Đại học RMIT Việt Nam</a:t>
            </a:r>
          </a:p>
          <a:p>
            <a:pPr algn="l">
              <a:lnSpc>
                <a:spcPts val="2400"/>
              </a:lnSpc>
            </a:pPr>
            <a:r>
              <a:rPr lang="en-US" sz="2000" spc="74">
                <a:solidFill>
                  <a:srgbClr val="FFFFFF"/>
                </a:solidFill>
                <a:latin typeface="Aptos"/>
                <a:ea typeface="Aptos"/>
                <a:cs typeface="Aptos"/>
                <a:sym typeface="Aptos"/>
              </a:rPr>
              <a:t>702 Đường Nguyễn Văn Linh, Tân Hưng, Quận 7, Hồ Chí Minh</a:t>
            </a:r>
          </a:p>
        </p:txBody>
      </p:sp>
      <p:sp>
        <p:nvSpPr>
          <p:cNvPr name="TextBox 13" id="13"/>
          <p:cNvSpPr txBox="true"/>
          <p:nvPr/>
        </p:nvSpPr>
        <p:spPr>
          <a:xfrm rot="0">
            <a:off x="8395088" y="8021732"/>
            <a:ext cx="4557809" cy="666750"/>
          </a:xfrm>
          <a:prstGeom prst="rect">
            <a:avLst/>
          </a:prstGeom>
        </p:spPr>
        <p:txBody>
          <a:bodyPr anchor="t" rtlCol="false" tIns="0" lIns="0" bIns="0" rIns="0">
            <a:spAutoFit/>
          </a:bodyPr>
          <a:lstStyle/>
          <a:p>
            <a:pPr algn="just" marL="0" indent="0" lvl="0">
              <a:lnSpc>
                <a:spcPts val="2999"/>
              </a:lnSpc>
              <a:spcBef>
                <a:spcPct val="0"/>
              </a:spcBef>
            </a:pPr>
            <a:r>
              <a:rPr lang="en-US" b="true" sz="2499" strike="noStrike" u="none">
                <a:solidFill>
                  <a:srgbClr val="FFFFFF"/>
                </a:solidFill>
                <a:latin typeface="Aptos Bold"/>
                <a:ea typeface="Aptos Bold"/>
                <a:cs typeface="Aptos Bold"/>
                <a:sym typeface="Aptos Bold"/>
              </a:rPr>
              <a:t>Email:</a:t>
            </a:r>
            <a:r>
              <a:rPr lang="en-US" sz="2499" strike="noStrike" u="none">
                <a:solidFill>
                  <a:srgbClr val="FFFFFF"/>
                </a:solidFill>
                <a:latin typeface="Aptos"/>
                <a:ea typeface="Aptos"/>
                <a:cs typeface="Aptos"/>
                <a:sym typeface="Aptos"/>
              </a:rPr>
              <a:t> </a:t>
            </a:r>
          </a:p>
          <a:p>
            <a:pPr algn="just" marL="0" indent="0" lvl="0">
              <a:lnSpc>
                <a:spcPts val="2400"/>
              </a:lnSpc>
              <a:spcBef>
                <a:spcPct val="0"/>
              </a:spcBef>
            </a:pPr>
            <a:r>
              <a:rPr lang="en-US" sz="2000" strike="noStrike" u="none">
                <a:solidFill>
                  <a:srgbClr val="FFFFFF"/>
                </a:solidFill>
                <a:latin typeface="Aptos"/>
                <a:ea typeface="Aptos"/>
                <a:cs typeface="Aptos"/>
                <a:sym typeface="Aptos"/>
              </a:rPr>
              <a:t>thanh.pham@rmit.edu.vn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714375" y="9182100"/>
            <a:ext cx="16868775" cy="0"/>
          </a:xfrm>
          <a:prstGeom prst="line">
            <a:avLst/>
          </a:prstGeom>
          <a:ln cap="flat" w="38100">
            <a:solidFill>
              <a:srgbClr val="E61E2A"/>
            </a:solidFill>
            <a:prstDash val="solid"/>
            <a:headEnd type="none" len="sm" w="sm"/>
            <a:tailEnd type="none" len="sm" w="sm"/>
          </a:ln>
        </p:spPr>
      </p:sp>
      <p:sp>
        <p:nvSpPr>
          <p:cNvPr name="Freeform 3" id="3"/>
          <p:cNvSpPr/>
          <p:nvPr/>
        </p:nvSpPr>
        <p:spPr>
          <a:xfrm flipH="false" flipV="false" rot="0">
            <a:off x="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3"/>
            <a:stretch>
              <a:fillRect l="0" t="0" r="-100000" b="0"/>
            </a:stretch>
          </a:blipFill>
        </p:spPr>
      </p:sp>
      <p:grpSp>
        <p:nvGrpSpPr>
          <p:cNvPr name="Group 4" id="4"/>
          <p:cNvGrpSpPr/>
          <p:nvPr/>
        </p:nvGrpSpPr>
        <p:grpSpPr>
          <a:xfrm rot="0">
            <a:off x="1028700" y="1028700"/>
            <a:ext cx="6952685" cy="8153400"/>
            <a:chOff x="0" y="0"/>
            <a:chExt cx="1831160" cy="2147398"/>
          </a:xfrm>
        </p:grpSpPr>
        <p:sp>
          <p:nvSpPr>
            <p:cNvPr name="Freeform 5" id="5"/>
            <p:cNvSpPr/>
            <p:nvPr/>
          </p:nvSpPr>
          <p:spPr>
            <a:xfrm flipH="false" flipV="false" rot="0">
              <a:off x="0" y="0"/>
              <a:ext cx="1831160" cy="2147398"/>
            </a:xfrm>
            <a:custGeom>
              <a:avLst/>
              <a:gdLst/>
              <a:ahLst/>
              <a:cxnLst/>
              <a:rect r="r" b="b" t="t" l="l"/>
              <a:pathLst>
                <a:path h="2147398" w="1831160">
                  <a:moveTo>
                    <a:pt x="0" y="0"/>
                  </a:moveTo>
                  <a:lnTo>
                    <a:pt x="1831160" y="0"/>
                  </a:lnTo>
                  <a:lnTo>
                    <a:pt x="1831160" y="2147398"/>
                  </a:lnTo>
                  <a:lnTo>
                    <a:pt x="0" y="2147398"/>
                  </a:lnTo>
                  <a:close/>
                </a:path>
              </a:pathLst>
            </a:custGeom>
            <a:solidFill>
              <a:srgbClr val="FFFFFF"/>
            </a:solidFill>
          </p:spPr>
        </p:sp>
        <p:sp>
          <p:nvSpPr>
            <p:cNvPr name="TextBox 6" id="6"/>
            <p:cNvSpPr txBox="true"/>
            <p:nvPr/>
          </p:nvSpPr>
          <p:spPr>
            <a:xfrm>
              <a:off x="0" y="66675"/>
              <a:ext cx="1831160" cy="2080723"/>
            </a:xfrm>
            <a:prstGeom prst="rect">
              <a:avLst/>
            </a:prstGeom>
          </p:spPr>
          <p:txBody>
            <a:bodyPr anchor="ctr" rtlCol="false" tIns="50800" lIns="50800" bIns="50800" rIns="50800"/>
            <a:lstStyle/>
            <a:p>
              <a:pPr algn="ctr">
                <a:lnSpc>
                  <a:spcPts val="2454"/>
                </a:lnSpc>
              </a:pPr>
            </a:p>
          </p:txBody>
        </p:sp>
      </p:grpSp>
      <p:sp>
        <p:nvSpPr>
          <p:cNvPr name="TextBox 7" id="7"/>
          <p:cNvSpPr txBox="true"/>
          <p:nvPr/>
        </p:nvSpPr>
        <p:spPr>
          <a:xfrm rot="0">
            <a:off x="9976477" y="895350"/>
            <a:ext cx="7606673" cy="810962"/>
          </a:xfrm>
          <a:prstGeom prst="rect">
            <a:avLst/>
          </a:prstGeom>
        </p:spPr>
        <p:txBody>
          <a:bodyPr anchor="t" rtlCol="false" tIns="0" lIns="0" bIns="0" rIns="0">
            <a:spAutoFit/>
          </a:bodyPr>
          <a:lstStyle/>
          <a:p>
            <a:pPr algn="l" marL="0" indent="0" lvl="0">
              <a:lnSpc>
                <a:spcPts val="6862"/>
              </a:lnSpc>
              <a:spcBef>
                <a:spcPct val="0"/>
              </a:spcBef>
            </a:pPr>
            <a:r>
              <a:rPr lang="en-US" b="true" sz="4477" spc="-223">
                <a:solidFill>
                  <a:srgbClr val="000054"/>
                </a:solidFill>
                <a:latin typeface="Aptos Bold"/>
                <a:ea typeface="Aptos Bold"/>
                <a:cs typeface="Aptos Bold"/>
                <a:sym typeface="Aptos Bold"/>
              </a:rPr>
              <a:t>DÀN Ý SLIDE</a:t>
            </a:r>
          </a:p>
        </p:txBody>
      </p:sp>
      <p:sp>
        <p:nvSpPr>
          <p:cNvPr name="TextBox 8" id="8"/>
          <p:cNvSpPr txBox="true"/>
          <p:nvPr/>
        </p:nvSpPr>
        <p:spPr>
          <a:xfrm rot="0">
            <a:off x="10693948" y="9428646"/>
            <a:ext cx="6889202" cy="627420"/>
          </a:xfrm>
          <a:prstGeom prst="rect">
            <a:avLst/>
          </a:prstGeom>
        </p:spPr>
        <p:txBody>
          <a:bodyPr anchor="t" rtlCol="false" tIns="0" lIns="0" bIns="0" rIns="0">
            <a:spAutoFit/>
          </a:bodyPr>
          <a:lstStyle/>
          <a:p>
            <a:pPr algn="l">
              <a:lnSpc>
                <a:spcPts val="2454"/>
              </a:lnSpc>
            </a:pPr>
            <a:r>
              <a:rPr lang="en-US" sz="2600" spc="96" b="true">
                <a:solidFill>
                  <a:srgbClr val="000054"/>
                </a:solidFill>
                <a:latin typeface="Aptos Bold"/>
                <a:ea typeface="Aptos Bold"/>
                <a:cs typeface="Aptos Bold"/>
                <a:sym typeface="Aptos Bold"/>
              </a:rPr>
              <a:t>Giải Thưởng Tiên Phong Ứng Dụng AI Trong </a:t>
            </a:r>
            <a:r>
              <a:rPr lang="en-US" sz="2600" spc="96" b="true">
                <a:solidFill>
                  <a:srgbClr val="000054"/>
                </a:solidFill>
                <a:latin typeface="Aptos Bold"/>
                <a:ea typeface="Aptos Bold"/>
                <a:cs typeface="Aptos Bold"/>
                <a:sym typeface="Aptos Bold"/>
              </a:rPr>
              <a:t>Giáo Dục Việt Nam 2026</a:t>
            </a:r>
          </a:p>
        </p:txBody>
      </p:sp>
      <p:sp>
        <p:nvSpPr>
          <p:cNvPr name="TextBox 9" id="9"/>
          <p:cNvSpPr txBox="true"/>
          <p:nvPr/>
        </p:nvSpPr>
        <p:spPr>
          <a:xfrm rot="0">
            <a:off x="9302422" y="1856514"/>
            <a:ext cx="6733407" cy="1145658"/>
          </a:xfrm>
          <a:prstGeom prst="rect">
            <a:avLst/>
          </a:prstGeom>
        </p:spPr>
        <p:txBody>
          <a:bodyPr anchor="t" rtlCol="false" tIns="0" lIns="0" bIns="0" rIns="0">
            <a:spAutoFit/>
          </a:bodyPr>
          <a:lstStyle/>
          <a:p>
            <a:pPr algn="l" marL="653460" indent="-326730" lvl="1">
              <a:lnSpc>
                <a:spcPts val="4661"/>
              </a:lnSpc>
              <a:buFont typeface="Arial"/>
              <a:buChar char="•"/>
            </a:pPr>
            <a:r>
              <a:rPr lang="en-US" sz="3026" i="true">
                <a:solidFill>
                  <a:srgbClr val="000054"/>
                </a:solidFill>
                <a:latin typeface="Aptos Italics"/>
                <a:ea typeface="Aptos Italics"/>
                <a:cs typeface="Aptos Italics"/>
                <a:sym typeface="Aptos Italics"/>
              </a:rPr>
              <a:t>Liệt kê ngắn ngọn các nội dung chính trong bài trình bày</a:t>
            </a:r>
          </a:p>
        </p:txBody>
      </p:sp>
      <p:sp>
        <p:nvSpPr>
          <p:cNvPr name="TextBox 10" id="10"/>
          <p:cNvSpPr txBox="true"/>
          <p:nvPr/>
        </p:nvSpPr>
        <p:spPr>
          <a:xfrm rot="0">
            <a:off x="1882397" y="4389696"/>
            <a:ext cx="5245291" cy="1145658"/>
          </a:xfrm>
          <a:prstGeom prst="rect">
            <a:avLst/>
          </a:prstGeom>
        </p:spPr>
        <p:txBody>
          <a:bodyPr anchor="t" rtlCol="false" tIns="0" lIns="0" bIns="0" rIns="0">
            <a:spAutoFit/>
          </a:bodyPr>
          <a:lstStyle/>
          <a:p>
            <a:pPr algn="l">
              <a:lnSpc>
                <a:spcPts val="4661"/>
              </a:lnSpc>
            </a:pPr>
            <a:r>
              <a:rPr lang="en-US" sz="3026" i="true">
                <a:solidFill>
                  <a:srgbClr val="000054"/>
                </a:solidFill>
                <a:latin typeface="Aptos Italics"/>
                <a:ea typeface="Aptos Italics"/>
                <a:cs typeface="Aptos Italics"/>
                <a:sym typeface="Aptos Italics"/>
              </a:rPr>
              <a:t>[Thêm hình minh họa của dự án vào ô này]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919749"/>
            <a:ext cx="18288000" cy="1367251"/>
          </a:xfrm>
          <a:custGeom>
            <a:avLst/>
            <a:gdLst/>
            <a:ahLst/>
            <a:cxnLst/>
            <a:rect r="r" b="b" t="t" l="l"/>
            <a:pathLst>
              <a:path h="1367251" w="18288000">
                <a:moveTo>
                  <a:pt x="0" y="0"/>
                </a:moveTo>
                <a:lnTo>
                  <a:pt x="18288000" y="0"/>
                </a:lnTo>
                <a:lnTo>
                  <a:pt x="18288000" y="1367251"/>
                </a:lnTo>
                <a:lnTo>
                  <a:pt x="0" y="1367251"/>
                </a:lnTo>
                <a:lnTo>
                  <a:pt x="0" y="0"/>
                </a:lnTo>
                <a:close/>
              </a:path>
            </a:pathLst>
          </a:custGeom>
          <a:blipFill>
            <a:blip r:embed="rId3"/>
            <a:stretch>
              <a:fillRect l="0" t="-652385" r="0" b="0"/>
            </a:stretch>
          </a:blipFill>
        </p:spPr>
      </p:sp>
      <p:sp>
        <p:nvSpPr>
          <p:cNvPr name="TextBox 3" id="3"/>
          <p:cNvSpPr txBox="true"/>
          <p:nvPr/>
        </p:nvSpPr>
        <p:spPr>
          <a:xfrm rot="0">
            <a:off x="882811" y="1005632"/>
            <a:ext cx="7606673" cy="810962"/>
          </a:xfrm>
          <a:prstGeom prst="rect">
            <a:avLst/>
          </a:prstGeom>
        </p:spPr>
        <p:txBody>
          <a:bodyPr anchor="t" rtlCol="false" tIns="0" lIns="0" bIns="0" rIns="0">
            <a:spAutoFit/>
          </a:bodyPr>
          <a:lstStyle/>
          <a:p>
            <a:pPr algn="l" marL="0" indent="0" lvl="0">
              <a:lnSpc>
                <a:spcPts val="6862"/>
              </a:lnSpc>
              <a:spcBef>
                <a:spcPct val="0"/>
              </a:spcBef>
            </a:pPr>
            <a:r>
              <a:rPr lang="en-US" b="true" sz="4477" spc="-223">
                <a:solidFill>
                  <a:srgbClr val="000054"/>
                </a:solidFill>
                <a:latin typeface="Aptos Bold"/>
                <a:ea typeface="Aptos Bold"/>
                <a:cs typeface="Aptos Bold"/>
                <a:sym typeface="Aptos Bold"/>
              </a:rPr>
              <a:t>NỘI DUNG BÀI TRÌNH BÀY</a:t>
            </a:r>
          </a:p>
        </p:txBody>
      </p:sp>
      <p:sp>
        <p:nvSpPr>
          <p:cNvPr name="TextBox 4" id="4"/>
          <p:cNvSpPr txBox="true"/>
          <p:nvPr/>
        </p:nvSpPr>
        <p:spPr>
          <a:xfrm rot="0">
            <a:off x="714375" y="2027149"/>
            <a:ext cx="16868775" cy="555108"/>
          </a:xfrm>
          <a:prstGeom prst="rect">
            <a:avLst/>
          </a:prstGeom>
        </p:spPr>
        <p:txBody>
          <a:bodyPr anchor="t" rtlCol="false" tIns="0" lIns="0" bIns="0" rIns="0">
            <a:spAutoFit/>
          </a:bodyPr>
          <a:lstStyle/>
          <a:p>
            <a:pPr algn="l" marL="653460" indent="-326730" lvl="1">
              <a:lnSpc>
                <a:spcPts val="4661"/>
              </a:lnSpc>
              <a:buFont typeface="Arial"/>
              <a:buChar char="•"/>
            </a:pPr>
            <a:r>
              <a:rPr lang="en-US" sz="3026">
                <a:solidFill>
                  <a:srgbClr val="000054"/>
                </a:solidFill>
                <a:latin typeface="Aptos"/>
                <a:ea typeface="Aptos"/>
                <a:cs typeface="Aptos"/>
                <a:sym typeface="Aptos"/>
              </a:rPr>
              <a:t>Liệt kê ngắn ngọn các nội dung chính trong bài trình bày</a:t>
            </a:r>
          </a:p>
        </p:txBody>
      </p:sp>
      <p:sp>
        <p:nvSpPr>
          <p:cNvPr name="TextBox 5" id="5"/>
          <p:cNvSpPr txBox="true"/>
          <p:nvPr/>
        </p:nvSpPr>
        <p:spPr>
          <a:xfrm rot="0">
            <a:off x="1028700" y="4266387"/>
            <a:ext cx="16554450" cy="2917308"/>
          </a:xfrm>
          <a:prstGeom prst="rect">
            <a:avLst/>
          </a:prstGeom>
        </p:spPr>
        <p:txBody>
          <a:bodyPr anchor="t" rtlCol="false" tIns="0" lIns="0" bIns="0" rIns="0">
            <a:spAutoFit/>
          </a:bodyPr>
          <a:lstStyle/>
          <a:p>
            <a:pPr algn="l">
              <a:lnSpc>
                <a:spcPts val="4661"/>
              </a:lnSpc>
            </a:pPr>
            <a:r>
              <a:rPr lang="en-US" sz="3026" i="true">
                <a:solidFill>
                  <a:srgbClr val="000054"/>
                </a:solidFill>
                <a:latin typeface="Aptos Italics"/>
                <a:ea typeface="Aptos Italics"/>
                <a:cs typeface="Aptos Italics"/>
                <a:sym typeface="Aptos Italics"/>
              </a:rPr>
              <a:t>Nội dung trong các slides tiếp theo là đề xuất. Toàn bộ nội dung trong các slide sau cần thay thế phần hướng dẫn bằng thông tin thực tế của sản phẩm. Thầy/cô có thể điều chỉnh linh hoạt, tự do trình bày và định dạng nội dung theo phong cách riêng.</a:t>
            </a:r>
          </a:p>
          <a:p>
            <a:pPr algn="l">
              <a:lnSpc>
                <a:spcPts val="4661"/>
              </a:lnSpc>
            </a:pPr>
          </a:p>
          <a:p>
            <a:pPr algn="l">
              <a:lnSpc>
                <a:spcPts val="4661"/>
              </a:lnSpc>
            </a:pPr>
            <a:r>
              <a:rPr lang="en-US" sz="3026" i="true">
                <a:solidFill>
                  <a:srgbClr val="000054"/>
                </a:solidFill>
                <a:latin typeface="Aptos Italics"/>
                <a:ea typeface="Aptos Italics"/>
                <a:cs typeface="Aptos Italics"/>
                <a:sym typeface="Aptos Italics"/>
              </a:rPr>
              <a:t>Lưu ý:</a:t>
            </a:r>
            <a:r>
              <a:rPr lang="en-US" sz="3026" i="true">
                <a:solidFill>
                  <a:srgbClr val="000054"/>
                </a:solidFill>
                <a:latin typeface="Aptos Italics"/>
                <a:ea typeface="Aptos Italics"/>
                <a:cs typeface="Aptos Italics"/>
                <a:sym typeface="Aptos Italics"/>
              </a:rPr>
              <a:t> Tổng số slide không được vượt quá 15 (bao gồm slide tiêu đề).</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714375" y="9182100"/>
            <a:ext cx="16868775" cy="0"/>
          </a:xfrm>
          <a:prstGeom prst="line">
            <a:avLst/>
          </a:prstGeom>
          <a:ln cap="flat" w="38100">
            <a:solidFill>
              <a:srgbClr val="E61E2A"/>
            </a:solidFill>
            <a:prstDash val="solid"/>
            <a:headEnd type="none" len="sm" w="sm"/>
            <a:tailEnd type="none" len="sm" w="sm"/>
          </a:ln>
        </p:spPr>
      </p:sp>
      <p:sp>
        <p:nvSpPr>
          <p:cNvPr name="TextBox 3" id="3"/>
          <p:cNvSpPr txBox="true"/>
          <p:nvPr/>
        </p:nvSpPr>
        <p:spPr>
          <a:xfrm rot="0">
            <a:off x="882811" y="1005632"/>
            <a:ext cx="7606673" cy="810962"/>
          </a:xfrm>
          <a:prstGeom prst="rect">
            <a:avLst/>
          </a:prstGeom>
        </p:spPr>
        <p:txBody>
          <a:bodyPr anchor="t" rtlCol="false" tIns="0" lIns="0" bIns="0" rIns="0">
            <a:spAutoFit/>
          </a:bodyPr>
          <a:lstStyle/>
          <a:p>
            <a:pPr algn="l" marL="0" indent="0" lvl="0">
              <a:lnSpc>
                <a:spcPts val="6862"/>
              </a:lnSpc>
              <a:spcBef>
                <a:spcPct val="0"/>
              </a:spcBef>
            </a:pPr>
            <a:r>
              <a:rPr lang="en-US" b="true" sz="4477" spc="-223">
                <a:solidFill>
                  <a:srgbClr val="000054"/>
                </a:solidFill>
                <a:latin typeface="Aptos Bold"/>
                <a:ea typeface="Aptos Bold"/>
                <a:cs typeface="Aptos Bold"/>
                <a:sym typeface="Aptos Bold"/>
              </a:rPr>
              <a:t>BỐI CẢNH VÀ VẤN ĐỀ</a:t>
            </a:r>
          </a:p>
        </p:txBody>
      </p:sp>
      <p:sp>
        <p:nvSpPr>
          <p:cNvPr name="TextBox 4" id="4"/>
          <p:cNvSpPr txBox="true"/>
          <p:nvPr/>
        </p:nvSpPr>
        <p:spPr>
          <a:xfrm rot="0">
            <a:off x="714375" y="2027149"/>
            <a:ext cx="16868775" cy="3507858"/>
          </a:xfrm>
          <a:prstGeom prst="rect">
            <a:avLst/>
          </a:prstGeom>
        </p:spPr>
        <p:txBody>
          <a:bodyPr anchor="t" rtlCol="false" tIns="0" lIns="0" bIns="0" rIns="0">
            <a:spAutoFit/>
          </a:bodyPr>
          <a:lstStyle/>
          <a:p>
            <a:pPr algn="l" marL="653460" indent="-326730" lvl="1">
              <a:lnSpc>
                <a:spcPts val="4661"/>
              </a:lnSpc>
              <a:buFont typeface="Arial"/>
              <a:buChar char="•"/>
            </a:pPr>
            <a:r>
              <a:rPr lang="en-US" sz="3026">
                <a:solidFill>
                  <a:srgbClr val="000054"/>
                </a:solidFill>
                <a:latin typeface="Aptos"/>
                <a:ea typeface="Aptos"/>
                <a:cs typeface="Aptos"/>
                <a:sym typeface="Aptos"/>
              </a:rPr>
              <a:t>Trình bày ngắn gọn dưới dạng gạch đầu dòng để nêu rõ vấn đề thực tế trong dạy học hoặc quản lý mà thầy/cô gặp phải.</a:t>
            </a:r>
          </a:p>
          <a:p>
            <a:pPr algn="l" marL="1306919" indent="-435640" lvl="2">
              <a:lnSpc>
                <a:spcPts val="4661"/>
              </a:lnSpc>
              <a:buFont typeface="Arial"/>
              <a:buChar char="⚬"/>
            </a:pPr>
            <a:r>
              <a:rPr lang="en-US" sz="3026">
                <a:solidFill>
                  <a:srgbClr val="000054"/>
                </a:solidFill>
                <a:latin typeface="Aptos"/>
                <a:ea typeface="Aptos"/>
                <a:cs typeface="Aptos"/>
                <a:sym typeface="Aptos"/>
              </a:rPr>
              <a:t>Ai là đối tượng chính (học sinh, giáo viên, hoặc nhà trường) ?</a:t>
            </a:r>
          </a:p>
          <a:p>
            <a:pPr algn="l" marL="1306919" indent="-435640" lvl="2">
              <a:lnSpc>
                <a:spcPts val="4661"/>
              </a:lnSpc>
              <a:buFont typeface="Arial"/>
              <a:buChar char="⚬"/>
            </a:pPr>
            <a:r>
              <a:rPr lang="en-US" sz="3026">
                <a:solidFill>
                  <a:srgbClr val="000054"/>
                </a:solidFill>
                <a:latin typeface="Aptos"/>
                <a:ea typeface="Aptos"/>
                <a:cs typeface="Aptos"/>
                <a:sym typeface="Aptos"/>
              </a:rPr>
              <a:t>Cung cấp số liệu hoặc thống kê nếu có để hỗ trợ giám khảo đánh giá. Thêm phản hồi, câu chuyện hoặc ví dụ cụ thể nếu có để tăng sức thuyết phục.</a:t>
            </a:r>
          </a:p>
          <a:p>
            <a:pPr algn="l">
              <a:lnSpc>
                <a:spcPts val="4661"/>
              </a:lnSpc>
            </a:pPr>
          </a:p>
        </p:txBody>
      </p:sp>
      <p:sp>
        <p:nvSpPr>
          <p:cNvPr name="Freeform 5" id="5"/>
          <p:cNvSpPr/>
          <p:nvPr/>
        </p:nvSpPr>
        <p:spPr>
          <a:xfrm flipH="false" flipV="false" rot="0">
            <a:off x="0" y="8919749"/>
            <a:ext cx="18288000" cy="1367251"/>
          </a:xfrm>
          <a:custGeom>
            <a:avLst/>
            <a:gdLst/>
            <a:ahLst/>
            <a:cxnLst/>
            <a:rect r="r" b="b" t="t" l="l"/>
            <a:pathLst>
              <a:path h="1367251" w="18288000">
                <a:moveTo>
                  <a:pt x="0" y="0"/>
                </a:moveTo>
                <a:lnTo>
                  <a:pt x="18288000" y="0"/>
                </a:lnTo>
                <a:lnTo>
                  <a:pt x="18288000" y="1367251"/>
                </a:lnTo>
                <a:lnTo>
                  <a:pt x="0" y="1367251"/>
                </a:lnTo>
                <a:lnTo>
                  <a:pt x="0" y="0"/>
                </a:lnTo>
                <a:close/>
              </a:path>
            </a:pathLst>
          </a:custGeom>
          <a:blipFill>
            <a:blip r:embed="rId3"/>
            <a:stretch>
              <a:fillRect l="0" t="-652385"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14375" y="2027149"/>
            <a:ext cx="16868775" cy="6460608"/>
          </a:xfrm>
          <a:prstGeom prst="rect">
            <a:avLst/>
          </a:prstGeom>
        </p:spPr>
        <p:txBody>
          <a:bodyPr anchor="t" rtlCol="false" tIns="0" lIns="0" bIns="0" rIns="0">
            <a:spAutoFit/>
          </a:bodyPr>
          <a:lstStyle/>
          <a:p>
            <a:pPr algn="l" marL="653460" indent="-326730" lvl="1">
              <a:lnSpc>
                <a:spcPts val="4661"/>
              </a:lnSpc>
              <a:buFont typeface="Arial"/>
              <a:buChar char="•"/>
            </a:pPr>
            <a:r>
              <a:rPr lang="en-US" sz="3026">
                <a:solidFill>
                  <a:srgbClr val="000054"/>
                </a:solidFill>
                <a:latin typeface="Aptos"/>
                <a:ea typeface="Aptos"/>
                <a:cs typeface="Aptos"/>
                <a:sym typeface="Aptos"/>
              </a:rPr>
              <a:t>Thầy/cô nêu rõ ý tưởng hoặc giải pháp AI đề ra cho vấn đề</a:t>
            </a:r>
          </a:p>
          <a:p>
            <a:pPr algn="l" marL="1306919" indent="-435640" lvl="2">
              <a:lnSpc>
                <a:spcPts val="4661"/>
              </a:lnSpc>
              <a:buFont typeface="Arial"/>
              <a:buChar char="⚬"/>
            </a:pPr>
            <a:r>
              <a:rPr lang="en-US" sz="3026">
                <a:solidFill>
                  <a:srgbClr val="000054"/>
                </a:solidFill>
                <a:latin typeface="Aptos"/>
                <a:ea typeface="Aptos"/>
                <a:cs typeface="Aptos"/>
                <a:sym typeface="Aptos"/>
              </a:rPr>
              <a:t>Ghi ngắn gọn tên công cụ, công nghệ hoặc nền tảng AI.</a:t>
            </a:r>
          </a:p>
          <a:p>
            <a:pPr algn="l" marL="1306919" indent="-435640" lvl="2">
              <a:lnSpc>
                <a:spcPts val="4661"/>
              </a:lnSpc>
              <a:buFont typeface="Arial"/>
              <a:buChar char="⚬"/>
            </a:pPr>
            <a:r>
              <a:rPr lang="en-US" sz="3026">
                <a:solidFill>
                  <a:srgbClr val="000054"/>
                </a:solidFill>
                <a:latin typeface="Aptos"/>
                <a:ea typeface="Aptos"/>
                <a:cs typeface="Aptos"/>
                <a:sym typeface="Aptos"/>
              </a:rPr>
              <a:t>Vì sao thầy/cô chọn AI? AI giải quyết điểm gì tốt hơn cách truyền thống?</a:t>
            </a:r>
          </a:p>
          <a:p>
            <a:pPr algn="l" marL="1306919" indent="-435640" lvl="2">
              <a:lnSpc>
                <a:spcPts val="4661"/>
              </a:lnSpc>
              <a:buFont typeface="Arial"/>
              <a:buChar char="⚬"/>
            </a:pPr>
            <a:r>
              <a:rPr lang="en-US" sz="3026">
                <a:solidFill>
                  <a:srgbClr val="000054"/>
                </a:solidFill>
                <a:latin typeface="Aptos"/>
                <a:ea typeface="Aptos"/>
                <a:cs typeface="Aptos"/>
                <a:sym typeface="Aptos"/>
              </a:rPr>
              <a:t>Tính đạo đức và trách nhiệm: làm sao để đảm bảo nội dung an toàn, chính xác, và khuyến khích sử dụng AI có trách nhiệm?</a:t>
            </a:r>
          </a:p>
          <a:p>
            <a:pPr algn="l">
              <a:lnSpc>
                <a:spcPts val="4661"/>
              </a:lnSpc>
            </a:pPr>
          </a:p>
          <a:p>
            <a:pPr algn="l" marL="653460" indent="-326730" lvl="1">
              <a:lnSpc>
                <a:spcPts val="4661"/>
              </a:lnSpc>
              <a:buFont typeface="Arial"/>
              <a:buChar char="•"/>
            </a:pPr>
            <a:r>
              <a:rPr lang="en-US" sz="3026">
                <a:solidFill>
                  <a:srgbClr val="000054"/>
                </a:solidFill>
                <a:latin typeface="Aptos"/>
                <a:ea typeface="Aptos"/>
                <a:cs typeface="Aptos"/>
                <a:sym typeface="Aptos"/>
              </a:rPr>
              <a:t>Cách thực hiện giải pháp này:</a:t>
            </a:r>
          </a:p>
          <a:p>
            <a:pPr algn="l" marL="1306919" indent="-435640" lvl="2">
              <a:lnSpc>
                <a:spcPts val="4661"/>
              </a:lnSpc>
              <a:buFont typeface="Arial"/>
              <a:buChar char="⚬"/>
            </a:pPr>
            <a:r>
              <a:rPr lang="en-US" sz="3026">
                <a:solidFill>
                  <a:srgbClr val="000054"/>
                </a:solidFill>
                <a:latin typeface="Aptos"/>
                <a:ea typeface="Aptos"/>
                <a:cs typeface="Aptos"/>
                <a:sym typeface="Aptos"/>
              </a:rPr>
              <a:t>Prompt đi kèm, t</a:t>
            </a:r>
            <a:r>
              <a:rPr lang="en-US" sz="3026">
                <a:solidFill>
                  <a:srgbClr val="000054"/>
                </a:solidFill>
                <a:latin typeface="Aptos"/>
                <a:ea typeface="Aptos"/>
                <a:cs typeface="Aptos"/>
                <a:sym typeface="Aptos"/>
              </a:rPr>
              <a:t>ài liệu đính kèm nếu có</a:t>
            </a:r>
          </a:p>
          <a:p>
            <a:pPr algn="l" marL="1306919" indent="-435640" lvl="2">
              <a:lnSpc>
                <a:spcPts val="4661"/>
              </a:lnSpc>
              <a:buFont typeface="Arial"/>
              <a:buChar char="⚬"/>
            </a:pPr>
            <a:r>
              <a:rPr lang="en-US" sz="3026">
                <a:solidFill>
                  <a:srgbClr val="000054"/>
                </a:solidFill>
                <a:latin typeface="Aptos"/>
                <a:ea typeface="Aptos"/>
                <a:cs typeface="Aptos"/>
                <a:sym typeface="Aptos"/>
              </a:rPr>
              <a:t>Cung cấp vài ảnh chụp màn hình của sán phẩm nếu có. </a:t>
            </a:r>
          </a:p>
          <a:p>
            <a:pPr algn="l" marL="1306919" indent="-435640" lvl="2">
              <a:lnSpc>
                <a:spcPts val="4661"/>
              </a:lnSpc>
              <a:buFont typeface="Arial"/>
              <a:buChar char="⚬"/>
            </a:pPr>
            <a:r>
              <a:rPr lang="en-US" sz="3026">
                <a:solidFill>
                  <a:srgbClr val="000054"/>
                </a:solidFill>
                <a:latin typeface="Aptos"/>
                <a:ea typeface="Aptos"/>
                <a:cs typeface="Aptos"/>
                <a:sym typeface="Aptos"/>
              </a:rPr>
              <a:t>Có thể nhúng kèm link, video, ảnh, âm thanh kèm theo</a:t>
            </a:r>
          </a:p>
          <a:p>
            <a:pPr algn="l">
              <a:lnSpc>
                <a:spcPts val="4661"/>
              </a:lnSpc>
            </a:pPr>
          </a:p>
        </p:txBody>
      </p:sp>
      <p:sp>
        <p:nvSpPr>
          <p:cNvPr name="AutoShape 3" id="3"/>
          <p:cNvSpPr/>
          <p:nvPr/>
        </p:nvSpPr>
        <p:spPr>
          <a:xfrm flipV="true">
            <a:off x="714375" y="9182100"/>
            <a:ext cx="16868775" cy="0"/>
          </a:xfrm>
          <a:prstGeom prst="line">
            <a:avLst/>
          </a:prstGeom>
          <a:ln cap="flat" w="38100">
            <a:solidFill>
              <a:srgbClr val="E61E2A"/>
            </a:solidFill>
            <a:prstDash val="solid"/>
            <a:headEnd type="none" len="sm" w="sm"/>
            <a:tailEnd type="none" len="sm" w="sm"/>
          </a:ln>
        </p:spPr>
      </p:sp>
      <p:sp>
        <p:nvSpPr>
          <p:cNvPr name="TextBox 4" id="4"/>
          <p:cNvSpPr txBox="true"/>
          <p:nvPr/>
        </p:nvSpPr>
        <p:spPr>
          <a:xfrm rot="0">
            <a:off x="714375" y="9505950"/>
            <a:ext cx="10426219" cy="322656"/>
          </a:xfrm>
          <a:prstGeom prst="rect">
            <a:avLst/>
          </a:prstGeom>
        </p:spPr>
        <p:txBody>
          <a:bodyPr anchor="t" rtlCol="false" tIns="0" lIns="0" bIns="0" rIns="0">
            <a:spAutoFit/>
          </a:bodyPr>
          <a:lstStyle/>
          <a:p>
            <a:pPr algn="r">
              <a:lnSpc>
                <a:spcPts val="2454"/>
              </a:lnSpc>
            </a:pPr>
            <a:r>
              <a:rPr lang="en-US" b="true" sz="2600" spc="96">
                <a:solidFill>
                  <a:srgbClr val="000054"/>
                </a:solidFill>
                <a:latin typeface="Aptos Bold"/>
                <a:ea typeface="Aptos Bold"/>
                <a:cs typeface="Aptos Bold"/>
                <a:sym typeface="Aptos Bold"/>
              </a:rPr>
              <a:t>Diễn đàn Đổi mới sáng tạo </a:t>
            </a:r>
            <a:r>
              <a:rPr lang="en-US" b="true" sz="2600" spc="96">
                <a:solidFill>
                  <a:srgbClr val="000054"/>
                </a:solidFill>
                <a:latin typeface="Aptos Bold"/>
                <a:ea typeface="Aptos Bold"/>
                <a:cs typeface="Aptos Bold"/>
                <a:sym typeface="Aptos Bold"/>
              </a:rPr>
              <a:t>Giáo dục Việt Nam với Trí tuệ nhân tạo </a:t>
            </a:r>
          </a:p>
        </p:txBody>
      </p:sp>
      <p:sp>
        <p:nvSpPr>
          <p:cNvPr name="Freeform 5" id="5"/>
          <p:cNvSpPr/>
          <p:nvPr/>
        </p:nvSpPr>
        <p:spPr>
          <a:xfrm flipH="false" flipV="false" rot="0">
            <a:off x="0" y="8852107"/>
            <a:ext cx="18288000" cy="1434893"/>
          </a:xfrm>
          <a:custGeom>
            <a:avLst/>
            <a:gdLst/>
            <a:ahLst/>
            <a:cxnLst/>
            <a:rect r="r" b="b" t="t" l="l"/>
            <a:pathLst>
              <a:path h="1434893" w="18288000">
                <a:moveTo>
                  <a:pt x="0" y="0"/>
                </a:moveTo>
                <a:lnTo>
                  <a:pt x="18288000" y="0"/>
                </a:lnTo>
                <a:lnTo>
                  <a:pt x="18288000" y="1434893"/>
                </a:lnTo>
                <a:lnTo>
                  <a:pt x="0" y="1434893"/>
                </a:lnTo>
                <a:lnTo>
                  <a:pt x="0" y="0"/>
                </a:lnTo>
                <a:close/>
              </a:path>
            </a:pathLst>
          </a:custGeom>
          <a:blipFill>
            <a:blip r:embed="rId3"/>
            <a:stretch>
              <a:fillRect l="0" t="-616917" r="0" b="0"/>
            </a:stretch>
          </a:blipFill>
        </p:spPr>
      </p:sp>
      <p:sp>
        <p:nvSpPr>
          <p:cNvPr name="TextBox 6" id="6"/>
          <p:cNvSpPr txBox="true"/>
          <p:nvPr/>
        </p:nvSpPr>
        <p:spPr>
          <a:xfrm rot="0">
            <a:off x="882811" y="1005632"/>
            <a:ext cx="13304664" cy="810962"/>
          </a:xfrm>
          <a:prstGeom prst="rect">
            <a:avLst/>
          </a:prstGeom>
        </p:spPr>
        <p:txBody>
          <a:bodyPr anchor="t" rtlCol="false" tIns="0" lIns="0" bIns="0" rIns="0">
            <a:spAutoFit/>
          </a:bodyPr>
          <a:lstStyle/>
          <a:p>
            <a:pPr algn="l" marL="0" indent="0" lvl="0">
              <a:lnSpc>
                <a:spcPts val="6862"/>
              </a:lnSpc>
              <a:spcBef>
                <a:spcPct val="0"/>
              </a:spcBef>
            </a:pPr>
            <a:r>
              <a:rPr lang="en-US" b="true" sz="4477" spc="-223">
                <a:solidFill>
                  <a:srgbClr val="000054"/>
                </a:solidFill>
                <a:latin typeface="Aptos Bold"/>
                <a:ea typeface="Aptos Bold"/>
                <a:cs typeface="Aptos Bold"/>
                <a:sym typeface="Aptos Bold"/>
              </a:rPr>
              <a:t>Ý TƯỞNG VÀ GIẢI PHÁP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82811" y="1005632"/>
            <a:ext cx="7606673" cy="810962"/>
          </a:xfrm>
          <a:prstGeom prst="rect">
            <a:avLst/>
          </a:prstGeom>
        </p:spPr>
        <p:txBody>
          <a:bodyPr anchor="t" rtlCol="false" tIns="0" lIns="0" bIns="0" rIns="0">
            <a:spAutoFit/>
          </a:bodyPr>
          <a:lstStyle/>
          <a:p>
            <a:pPr algn="l" marL="0" indent="0" lvl="0">
              <a:lnSpc>
                <a:spcPts val="6862"/>
              </a:lnSpc>
              <a:spcBef>
                <a:spcPct val="0"/>
              </a:spcBef>
            </a:pPr>
            <a:r>
              <a:rPr lang="en-US" b="true" sz="4477" spc="-223">
                <a:solidFill>
                  <a:srgbClr val="000054"/>
                </a:solidFill>
                <a:latin typeface="Aptos Bold"/>
                <a:ea typeface="Aptos Bold"/>
                <a:cs typeface="Aptos Bold"/>
                <a:sym typeface="Aptos Bold"/>
              </a:rPr>
              <a:t>TRIỂN KHAI THỰC TẾ</a:t>
            </a:r>
          </a:p>
        </p:txBody>
      </p:sp>
      <p:sp>
        <p:nvSpPr>
          <p:cNvPr name="TextBox 3" id="3"/>
          <p:cNvSpPr txBox="true"/>
          <p:nvPr/>
        </p:nvSpPr>
        <p:spPr>
          <a:xfrm rot="0">
            <a:off x="714375" y="2027149"/>
            <a:ext cx="16868775" cy="2917308"/>
          </a:xfrm>
          <a:prstGeom prst="rect">
            <a:avLst/>
          </a:prstGeom>
        </p:spPr>
        <p:txBody>
          <a:bodyPr anchor="t" rtlCol="false" tIns="0" lIns="0" bIns="0" rIns="0">
            <a:spAutoFit/>
          </a:bodyPr>
          <a:lstStyle/>
          <a:p>
            <a:pPr algn="l" marL="653460" indent="-326730" lvl="1">
              <a:lnSpc>
                <a:spcPts val="4661"/>
              </a:lnSpc>
              <a:buFont typeface="Arial"/>
              <a:buChar char="•"/>
            </a:pPr>
            <a:r>
              <a:rPr lang="en-US" sz="3026">
                <a:solidFill>
                  <a:srgbClr val="000054"/>
                </a:solidFill>
                <a:latin typeface="Aptos"/>
                <a:ea typeface="Aptos"/>
                <a:cs typeface="Aptos"/>
                <a:sym typeface="Aptos"/>
              </a:rPr>
              <a:t>Thầy/cô nêu mô tả cách triển khai giải pháp</a:t>
            </a:r>
          </a:p>
          <a:p>
            <a:pPr algn="l" marL="1306919" indent="-435640" lvl="2">
              <a:lnSpc>
                <a:spcPts val="4661"/>
              </a:lnSpc>
              <a:buFont typeface="Arial"/>
              <a:buChar char="⚬"/>
            </a:pPr>
            <a:r>
              <a:rPr lang="en-US" sz="3026">
                <a:solidFill>
                  <a:srgbClr val="000054"/>
                </a:solidFill>
                <a:latin typeface="Aptos"/>
                <a:ea typeface="Aptos"/>
                <a:cs typeface="Aptos"/>
                <a:sym typeface="Aptos"/>
              </a:rPr>
              <a:t>Triển khai ra sao (ví dụ, giáo án, hoạt động lớp, tích hợp vào phần mềm quản lý ?)</a:t>
            </a:r>
          </a:p>
          <a:p>
            <a:pPr algn="l" marL="1306919" indent="-435640" lvl="2">
              <a:lnSpc>
                <a:spcPts val="4661"/>
              </a:lnSpc>
              <a:buFont typeface="Arial"/>
              <a:buChar char="⚬"/>
            </a:pPr>
            <a:r>
              <a:rPr lang="en-US" sz="3026">
                <a:solidFill>
                  <a:srgbClr val="000054"/>
                </a:solidFill>
                <a:latin typeface="Aptos"/>
                <a:ea typeface="Aptos"/>
                <a:cs typeface="Aptos"/>
                <a:sym typeface="Aptos"/>
              </a:rPr>
              <a:t>Thời gian triển khai (bao nhiêu tháng/từ bao giờ đến nay)</a:t>
            </a:r>
          </a:p>
          <a:p>
            <a:pPr algn="l" marL="1306919" indent="-435640" lvl="2">
              <a:lnSpc>
                <a:spcPts val="4661"/>
              </a:lnSpc>
              <a:buFont typeface="Arial"/>
              <a:buChar char="⚬"/>
            </a:pPr>
            <a:r>
              <a:rPr lang="en-US" sz="3026">
                <a:solidFill>
                  <a:srgbClr val="000054"/>
                </a:solidFill>
                <a:latin typeface="Aptos"/>
                <a:ea typeface="Aptos"/>
                <a:cs typeface="Aptos"/>
                <a:sym typeface="Aptos"/>
              </a:rPr>
              <a:t>Đối tượng sử dụng/hưởng lợi </a:t>
            </a:r>
            <a:r>
              <a:rPr lang="en-US" sz="3026">
                <a:solidFill>
                  <a:srgbClr val="000054"/>
                </a:solidFill>
                <a:latin typeface="Aptos"/>
                <a:ea typeface="Aptos"/>
                <a:cs typeface="Aptos"/>
                <a:sym typeface="Aptos"/>
              </a:rPr>
              <a:t>(giáo viên, học sinh, hay quản lý) và số lượng</a:t>
            </a:r>
          </a:p>
          <a:p>
            <a:pPr algn="l">
              <a:lnSpc>
                <a:spcPts val="4661"/>
              </a:lnSpc>
            </a:pPr>
          </a:p>
        </p:txBody>
      </p:sp>
      <p:sp>
        <p:nvSpPr>
          <p:cNvPr name="AutoShape 4" id="4"/>
          <p:cNvSpPr/>
          <p:nvPr/>
        </p:nvSpPr>
        <p:spPr>
          <a:xfrm flipV="true">
            <a:off x="714375" y="9182100"/>
            <a:ext cx="16868775" cy="0"/>
          </a:xfrm>
          <a:prstGeom prst="line">
            <a:avLst/>
          </a:prstGeom>
          <a:ln cap="flat" w="38100">
            <a:solidFill>
              <a:srgbClr val="E61E2A"/>
            </a:solidFill>
            <a:prstDash val="solid"/>
            <a:headEnd type="none" len="sm" w="sm"/>
            <a:tailEnd type="none" len="sm" w="sm"/>
          </a:ln>
        </p:spPr>
      </p:sp>
      <p:sp>
        <p:nvSpPr>
          <p:cNvPr name="TextBox 5" id="5"/>
          <p:cNvSpPr txBox="true"/>
          <p:nvPr/>
        </p:nvSpPr>
        <p:spPr>
          <a:xfrm rot="0">
            <a:off x="714375" y="9505950"/>
            <a:ext cx="10426219" cy="322656"/>
          </a:xfrm>
          <a:prstGeom prst="rect">
            <a:avLst/>
          </a:prstGeom>
        </p:spPr>
        <p:txBody>
          <a:bodyPr anchor="t" rtlCol="false" tIns="0" lIns="0" bIns="0" rIns="0">
            <a:spAutoFit/>
          </a:bodyPr>
          <a:lstStyle/>
          <a:p>
            <a:pPr algn="r">
              <a:lnSpc>
                <a:spcPts val="2454"/>
              </a:lnSpc>
            </a:pPr>
            <a:r>
              <a:rPr lang="en-US" b="true" sz="2600" spc="96">
                <a:solidFill>
                  <a:srgbClr val="000054"/>
                </a:solidFill>
                <a:latin typeface="Aptos Bold"/>
                <a:ea typeface="Aptos Bold"/>
                <a:cs typeface="Aptos Bold"/>
                <a:sym typeface="Aptos Bold"/>
              </a:rPr>
              <a:t>Diễn đàn Đổi mới sáng tạo </a:t>
            </a:r>
            <a:r>
              <a:rPr lang="en-US" b="true" sz="2600" spc="96">
                <a:solidFill>
                  <a:srgbClr val="000054"/>
                </a:solidFill>
                <a:latin typeface="Aptos Bold"/>
                <a:ea typeface="Aptos Bold"/>
                <a:cs typeface="Aptos Bold"/>
                <a:sym typeface="Aptos Bold"/>
              </a:rPr>
              <a:t>Giáo dục Việt Nam với Trí tuệ nhân tạo </a:t>
            </a:r>
          </a:p>
        </p:txBody>
      </p:sp>
      <p:sp>
        <p:nvSpPr>
          <p:cNvPr name="Freeform 6" id="6"/>
          <p:cNvSpPr/>
          <p:nvPr/>
        </p:nvSpPr>
        <p:spPr>
          <a:xfrm flipH="false" flipV="false" rot="0">
            <a:off x="0" y="8852107"/>
            <a:ext cx="18288000" cy="1434893"/>
          </a:xfrm>
          <a:custGeom>
            <a:avLst/>
            <a:gdLst/>
            <a:ahLst/>
            <a:cxnLst/>
            <a:rect r="r" b="b" t="t" l="l"/>
            <a:pathLst>
              <a:path h="1434893" w="18288000">
                <a:moveTo>
                  <a:pt x="0" y="0"/>
                </a:moveTo>
                <a:lnTo>
                  <a:pt x="18288000" y="0"/>
                </a:lnTo>
                <a:lnTo>
                  <a:pt x="18288000" y="1434893"/>
                </a:lnTo>
                <a:lnTo>
                  <a:pt x="0" y="1434893"/>
                </a:lnTo>
                <a:lnTo>
                  <a:pt x="0" y="0"/>
                </a:lnTo>
                <a:close/>
              </a:path>
            </a:pathLst>
          </a:custGeom>
          <a:blipFill>
            <a:blip r:embed="rId3"/>
            <a:stretch>
              <a:fillRect l="0" t="-616917"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82811" y="1005632"/>
            <a:ext cx="14571860" cy="810962"/>
          </a:xfrm>
          <a:prstGeom prst="rect">
            <a:avLst/>
          </a:prstGeom>
        </p:spPr>
        <p:txBody>
          <a:bodyPr anchor="t" rtlCol="false" tIns="0" lIns="0" bIns="0" rIns="0">
            <a:spAutoFit/>
          </a:bodyPr>
          <a:lstStyle/>
          <a:p>
            <a:pPr algn="l" marL="0" indent="0" lvl="0">
              <a:lnSpc>
                <a:spcPts val="6862"/>
              </a:lnSpc>
              <a:spcBef>
                <a:spcPct val="0"/>
              </a:spcBef>
            </a:pPr>
            <a:r>
              <a:rPr lang="en-US" b="true" sz="4477" spc="-223">
                <a:solidFill>
                  <a:srgbClr val="000054"/>
                </a:solidFill>
                <a:latin typeface="Aptos Bold"/>
                <a:ea typeface="Aptos Bold"/>
                <a:cs typeface="Aptos Bold"/>
                <a:sym typeface="Aptos Bold"/>
              </a:rPr>
              <a:t>KẾT QUẢ VÀ TÁC ĐỘNG </a:t>
            </a:r>
          </a:p>
        </p:txBody>
      </p:sp>
      <p:sp>
        <p:nvSpPr>
          <p:cNvPr name="TextBox 3" id="3"/>
          <p:cNvSpPr txBox="true"/>
          <p:nvPr/>
        </p:nvSpPr>
        <p:spPr>
          <a:xfrm rot="0">
            <a:off x="714375" y="2027149"/>
            <a:ext cx="16868775" cy="4688958"/>
          </a:xfrm>
          <a:prstGeom prst="rect">
            <a:avLst/>
          </a:prstGeom>
        </p:spPr>
        <p:txBody>
          <a:bodyPr anchor="t" rtlCol="false" tIns="0" lIns="0" bIns="0" rIns="0">
            <a:spAutoFit/>
          </a:bodyPr>
          <a:lstStyle/>
          <a:p>
            <a:pPr algn="l" marL="653460" indent="-326730" lvl="1">
              <a:lnSpc>
                <a:spcPts val="4661"/>
              </a:lnSpc>
              <a:buFont typeface="Arial"/>
              <a:buChar char="•"/>
            </a:pPr>
            <a:r>
              <a:rPr lang="en-US" sz="3026">
                <a:solidFill>
                  <a:srgbClr val="000054"/>
                </a:solidFill>
                <a:latin typeface="Aptos"/>
                <a:ea typeface="Aptos"/>
                <a:cs typeface="Aptos"/>
                <a:sym typeface="Aptos"/>
              </a:rPr>
              <a:t>Thầy/cô nêu mô tả kết quả áp dụng sáng kiến và sản phẩm</a:t>
            </a:r>
          </a:p>
          <a:p>
            <a:pPr algn="l" marL="653460" indent="-326730" lvl="1">
              <a:lnSpc>
                <a:spcPts val="4661"/>
              </a:lnSpc>
              <a:buFont typeface="Arial"/>
              <a:buChar char="•"/>
            </a:pPr>
            <a:r>
              <a:rPr lang="en-US" sz="3026">
                <a:solidFill>
                  <a:srgbClr val="000054"/>
                </a:solidFill>
                <a:latin typeface="Aptos"/>
                <a:ea typeface="Aptos"/>
                <a:cs typeface="Aptos"/>
                <a:sym typeface="Aptos"/>
              </a:rPr>
              <a:t>Trình bày thay đổi sau khi áp dụng:</a:t>
            </a:r>
          </a:p>
          <a:p>
            <a:pPr algn="l" marL="1306919" indent="-435640" lvl="2">
              <a:lnSpc>
                <a:spcPts val="4661"/>
              </a:lnSpc>
              <a:buFont typeface="Arial"/>
              <a:buChar char="⚬"/>
            </a:pPr>
            <a:r>
              <a:rPr lang="en-US" sz="3026">
                <a:solidFill>
                  <a:srgbClr val="000054"/>
                </a:solidFill>
                <a:latin typeface="Aptos"/>
                <a:ea typeface="Aptos"/>
                <a:cs typeface="Aptos"/>
                <a:sym typeface="Aptos"/>
              </a:rPr>
              <a:t>Học sinh: ví dụ, tích cực hơn? điểm tốt hơn?</a:t>
            </a:r>
          </a:p>
          <a:p>
            <a:pPr algn="l" marL="1306919" indent="-435640" lvl="2">
              <a:lnSpc>
                <a:spcPts val="4661"/>
              </a:lnSpc>
              <a:buFont typeface="Arial"/>
              <a:buChar char="⚬"/>
            </a:pPr>
            <a:r>
              <a:rPr lang="en-US" sz="3026">
                <a:solidFill>
                  <a:srgbClr val="000054"/>
                </a:solidFill>
                <a:latin typeface="Aptos"/>
                <a:ea typeface="Aptos"/>
                <a:cs typeface="Aptos"/>
                <a:sym typeface="Aptos"/>
              </a:rPr>
              <a:t>Giáo viên: ví dụ, tiết kiệm thời gian? nâng cao hiệu quả?</a:t>
            </a:r>
          </a:p>
          <a:p>
            <a:pPr algn="l" marL="653460" indent="-326730" lvl="1">
              <a:lnSpc>
                <a:spcPts val="4661"/>
              </a:lnSpc>
              <a:buFont typeface="Arial"/>
              <a:buChar char="•"/>
            </a:pPr>
            <a:r>
              <a:rPr lang="en-US" sz="3026">
                <a:solidFill>
                  <a:srgbClr val="000054"/>
                </a:solidFill>
                <a:latin typeface="Aptos"/>
                <a:ea typeface="Aptos"/>
                <a:cs typeface="Aptos"/>
                <a:sym typeface="Aptos"/>
              </a:rPr>
              <a:t>Đưa minh chứng và số liệu nếu có (ví dụ: bảng khảo sát, hình ảnh sản phẩm học sinh, nhật ký sử dụng…)</a:t>
            </a:r>
          </a:p>
          <a:p>
            <a:pPr algn="l" marL="653460" indent="-326730" lvl="1">
              <a:lnSpc>
                <a:spcPts val="4661"/>
              </a:lnSpc>
              <a:buFont typeface="Arial"/>
              <a:buChar char="•"/>
            </a:pPr>
            <a:r>
              <a:rPr lang="en-US" sz="3026">
                <a:solidFill>
                  <a:srgbClr val="000054"/>
                </a:solidFill>
                <a:latin typeface="Aptos"/>
                <a:ea typeface="Aptos"/>
                <a:cs typeface="Aptos"/>
                <a:sym typeface="Aptos"/>
              </a:rPr>
              <a:t>Trích dẫn phản hồi từ học sinh, đồng nghiệp, phụ huynh nếu có…</a:t>
            </a:r>
          </a:p>
          <a:p>
            <a:pPr algn="l">
              <a:lnSpc>
                <a:spcPts val="4661"/>
              </a:lnSpc>
            </a:pPr>
          </a:p>
        </p:txBody>
      </p:sp>
      <p:sp>
        <p:nvSpPr>
          <p:cNvPr name="AutoShape 4" id="4"/>
          <p:cNvSpPr/>
          <p:nvPr/>
        </p:nvSpPr>
        <p:spPr>
          <a:xfrm flipV="true">
            <a:off x="714375" y="9182100"/>
            <a:ext cx="16868775" cy="0"/>
          </a:xfrm>
          <a:prstGeom prst="line">
            <a:avLst/>
          </a:prstGeom>
          <a:ln cap="flat" w="38100">
            <a:solidFill>
              <a:srgbClr val="E61E2A"/>
            </a:solidFill>
            <a:prstDash val="solid"/>
            <a:headEnd type="none" len="sm" w="sm"/>
            <a:tailEnd type="none" len="sm" w="sm"/>
          </a:ln>
        </p:spPr>
      </p:sp>
      <p:sp>
        <p:nvSpPr>
          <p:cNvPr name="TextBox 5" id="5"/>
          <p:cNvSpPr txBox="true"/>
          <p:nvPr/>
        </p:nvSpPr>
        <p:spPr>
          <a:xfrm rot="0">
            <a:off x="714375" y="9505950"/>
            <a:ext cx="10426219" cy="322656"/>
          </a:xfrm>
          <a:prstGeom prst="rect">
            <a:avLst/>
          </a:prstGeom>
        </p:spPr>
        <p:txBody>
          <a:bodyPr anchor="t" rtlCol="false" tIns="0" lIns="0" bIns="0" rIns="0">
            <a:spAutoFit/>
          </a:bodyPr>
          <a:lstStyle/>
          <a:p>
            <a:pPr algn="r">
              <a:lnSpc>
                <a:spcPts val="2454"/>
              </a:lnSpc>
            </a:pPr>
            <a:r>
              <a:rPr lang="en-US" b="true" sz="2600" spc="96">
                <a:solidFill>
                  <a:srgbClr val="000054"/>
                </a:solidFill>
                <a:latin typeface="Aptos Bold"/>
                <a:ea typeface="Aptos Bold"/>
                <a:cs typeface="Aptos Bold"/>
                <a:sym typeface="Aptos Bold"/>
              </a:rPr>
              <a:t>Diễn đàn Đổi mới sáng tạo </a:t>
            </a:r>
            <a:r>
              <a:rPr lang="en-US" b="true" sz="2600" spc="96">
                <a:solidFill>
                  <a:srgbClr val="000054"/>
                </a:solidFill>
                <a:latin typeface="Aptos Bold"/>
                <a:ea typeface="Aptos Bold"/>
                <a:cs typeface="Aptos Bold"/>
                <a:sym typeface="Aptos Bold"/>
              </a:rPr>
              <a:t>Giáo dục Việt Nam với Trí tuệ nhân tạo </a:t>
            </a:r>
          </a:p>
        </p:txBody>
      </p:sp>
      <p:sp>
        <p:nvSpPr>
          <p:cNvPr name="Freeform 6" id="6"/>
          <p:cNvSpPr/>
          <p:nvPr/>
        </p:nvSpPr>
        <p:spPr>
          <a:xfrm flipH="false" flipV="false" rot="0">
            <a:off x="0" y="8919749"/>
            <a:ext cx="18288000" cy="1367251"/>
          </a:xfrm>
          <a:custGeom>
            <a:avLst/>
            <a:gdLst/>
            <a:ahLst/>
            <a:cxnLst/>
            <a:rect r="r" b="b" t="t" l="l"/>
            <a:pathLst>
              <a:path h="1367251" w="18288000">
                <a:moveTo>
                  <a:pt x="0" y="0"/>
                </a:moveTo>
                <a:lnTo>
                  <a:pt x="18288000" y="0"/>
                </a:lnTo>
                <a:lnTo>
                  <a:pt x="18288000" y="1367251"/>
                </a:lnTo>
                <a:lnTo>
                  <a:pt x="0" y="1367251"/>
                </a:lnTo>
                <a:lnTo>
                  <a:pt x="0" y="0"/>
                </a:lnTo>
                <a:close/>
              </a:path>
            </a:pathLst>
          </a:custGeom>
          <a:blipFill>
            <a:blip r:embed="rId3"/>
            <a:stretch>
              <a:fillRect l="0" t="-652385"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82811" y="1005692"/>
            <a:ext cx="7606673" cy="810962"/>
          </a:xfrm>
          <a:prstGeom prst="rect">
            <a:avLst/>
          </a:prstGeom>
        </p:spPr>
        <p:txBody>
          <a:bodyPr anchor="t" rtlCol="false" tIns="0" lIns="0" bIns="0" rIns="0">
            <a:spAutoFit/>
          </a:bodyPr>
          <a:lstStyle/>
          <a:p>
            <a:pPr algn="l" marL="0" indent="0" lvl="0">
              <a:lnSpc>
                <a:spcPts val="6862"/>
              </a:lnSpc>
              <a:spcBef>
                <a:spcPct val="0"/>
              </a:spcBef>
            </a:pPr>
            <a:r>
              <a:rPr lang="en-US" b="true" sz="4477" spc="-223">
                <a:solidFill>
                  <a:srgbClr val="000054"/>
                </a:solidFill>
                <a:latin typeface="Aptos Bold"/>
                <a:ea typeface="Aptos Bold"/>
                <a:cs typeface="Aptos Bold"/>
                <a:sym typeface="Aptos Bold"/>
              </a:rPr>
              <a:t>THẢO LUẬN VÀ TỔNG KẾT</a:t>
            </a:r>
          </a:p>
        </p:txBody>
      </p:sp>
      <p:sp>
        <p:nvSpPr>
          <p:cNvPr name="TextBox 3" id="3"/>
          <p:cNvSpPr txBox="true"/>
          <p:nvPr/>
        </p:nvSpPr>
        <p:spPr>
          <a:xfrm rot="0">
            <a:off x="714375" y="1940442"/>
            <a:ext cx="16868775" cy="2917308"/>
          </a:xfrm>
          <a:prstGeom prst="rect">
            <a:avLst/>
          </a:prstGeom>
        </p:spPr>
        <p:txBody>
          <a:bodyPr anchor="t" rtlCol="false" tIns="0" lIns="0" bIns="0" rIns="0">
            <a:spAutoFit/>
          </a:bodyPr>
          <a:lstStyle/>
          <a:p>
            <a:pPr algn="l" marL="653460" indent="-326730" lvl="1">
              <a:lnSpc>
                <a:spcPts val="4661"/>
              </a:lnSpc>
              <a:buFont typeface="Arial"/>
              <a:buChar char="•"/>
            </a:pPr>
            <a:r>
              <a:rPr lang="en-US" sz="3026">
                <a:solidFill>
                  <a:srgbClr val="000054"/>
                </a:solidFill>
                <a:latin typeface="Aptos"/>
                <a:ea typeface="Aptos"/>
                <a:cs typeface="Aptos"/>
                <a:sym typeface="Aptos"/>
              </a:rPr>
              <a:t>So sánh với giải pháp trước đây, giải pháp mới tốt hơn ở điểm nào.</a:t>
            </a:r>
          </a:p>
          <a:p>
            <a:pPr algn="l" marL="653460" indent="-326730" lvl="1">
              <a:lnSpc>
                <a:spcPts val="4661"/>
              </a:lnSpc>
              <a:buFont typeface="Arial"/>
              <a:buChar char="•"/>
            </a:pPr>
            <a:r>
              <a:rPr lang="en-US" sz="3026">
                <a:solidFill>
                  <a:srgbClr val="000054"/>
                </a:solidFill>
                <a:latin typeface="Aptos"/>
                <a:ea typeface="Aptos"/>
                <a:cs typeface="Aptos"/>
                <a:sym typeface="Aptos"/>
              </a:rPr>
              <a:t>Trình bày tính bền vững, khả năng nhân rộng, và/hoặc khả năng điều chỉnh và áp dụng ở bối cảnh khác nếu có</a:t>
            </a:r>
          </a:p>
          <a:p>
            <a:pPr algn="l" marL="653460" indent="-326730" lvl="1">
              <a:lnSpc>
                <a:spcPts val="4661"/>
              </a:lnSpc>
              <a:buFont typeface="Arial"/>
              <a:buChar char="•"/>
            </a:pPr>
            <a:r>
              <a:rPr lang="en-US" sz="3026">
                <a:solidFill>
                  <a:srgbClr val="000054"/>
                </a:solidFill>
                <a:latin typeface="Aptos"/>
                <a:ea typeface="Aptos"/>
                <a:cs typeface="Aptos"/>
                <a:sym typeface="Aptos"/>
              </a:rPr>
              <a:t>Định hướng phát triển trong tương lai: trình bày phương hướng để tiếp tục triển khai và cải thiện sản phẩm/giải pháp </a:t>
            </a:r>
          </a:p>
        </p:txBody>
      </p:sp>
      <p:sp>
        <p:nvSpPr>
          <p:cNvPr name="AutoShape 4" id="4"/>
          <p:cNvSpPr/>
          <p:nvPr/>
        </p:nvSpPr>
        <p:spPr>
          <a:xfrm flipV="true">
            <a:off x="714375" y="9182100"/>
            <a:ext cx="16868775" cy="0"/>
          </a:xfrm>
          <a:prstGeom prst="line">
            <a:avLst/>
          </a:prstGeom>
          <a:ln cap="flat" w="38100">
            <a:solidFill>
              <a:srgbClr val="E61E2A"/>
            </a:solidFill>
            <a:prstDash val="solid"/>
            <a:headEnd type="none" len="sm" w="sm"/>
            <a:tailEnd type="none" len="sm" w="sm"/>
          </a:ln>
        </p:spPr>
      </p:sp>
      <p:sp>
        <p:nvSpPr>
          <p:cNvPr name="TextBox 5" id="5"/>
          <p:cNvSpPr txBox="true"/>
          <p:nvPr/>
        </p:nvSpPr>
        <p:spPr>
          <a:xfrm rot="0">
            <a:off x="714375" y="9505950"/>
            <a:ext cx="10426219" cy="322656"/>
          </a:xfrm>
          <a:prstGeom prst="rect">
            <a:avLst/>
          </a:prstGeom>
        </p:spPr>
        <p:txBody>
          <a:bodyPr anchor="t" rtlCol="false" tIns="0" lIns="0" bIns="0" rIns="0">
            <a:spAutoFit/>
          </a:bodyPr>
          <a:lstStyle/>
          <a:p>
            <a:pPr algn="r">
              <a:lnSpc>
                <a:spcPts val="2454"/>
              </a:lnSpc>
            </a:pPr>
            <a:r>
              <a:rPr lang="en-US" b="true" sz="2600" spc="96">
                <a:solidFill>
                  <a:srgbClr val="000054"/>
                </a:solidFill>
                <a:latin typeface="Aptos Bold"/>
                <a:ea typeface="Aptos Bold"/>
                <a:cs typeface="Aptos Bold"/>
                <a:sym typeface="Aptos Bold"/>
              </a:rPr>
              <a:t>Diễn đàn Đổi mới sáng tạo </a:t>
            </a:r>
            <a:r>
              <a:rPr lang="en-US" b="true" sz="2600" spc="96">
                <a:solidFill>
                  <a:srgbClr val="000054"/>
                </a:solidFill>
                <a:latin typeface="Aptos Bold"/>
                <a:ea typeface="Aptos Bold"/>
                <a:cs typeface="Aptos Bold"/>
                <a:sym typeface="Aptos Bold"/>
              </a:rPr>
              <a:t>Giáo dục Việt Nam với Trí tuệ nhân tạo </a:t>
            </a:r>
          </a:p>
        </p:txBody>
      </p:sp>
      <p:sp>
        <p:nvSpPr>
          <p:cNvPr name="Freeform 6" id="6"/>
          <p:cNvSpPr/>
          <p:nvPr/>
        </p:nvSpPr>
        <p:spPr>
          <a:xfrm flipH="false" flipV="false" rot="0">
            <a:off x="0" y="8852107"/>
            <a:ext cx="18288000" cy="1434893"/>
          </a:xfrm>
          <a:custGeom>
            <a:avLst/>
            <a:gdLst/>
            <a:ahLst/>
            <a:cxnLst/>
            <a:rect r="r" b="b" t="t" l="l"/>
            <a:pathLst>
              <a:path h="1434893" w="18288000">
                <a:moveTo>
                  <a:pt x="0" y="0"/>
                </a:moveTo>
                <a:lnTo>
                  <a:pt x="18288000" y="0"/>
                </a:lnTo>
                <a:lnTo>
                  <a:pt x="18288000" y="1434893"/>
                </a:lnTo>
                <a:lnTo>
                  <a:pt x="0" y="1434893"/>
                </a:lnTo>
                <a:lnTo>
                  <a:pt x="0" y="0"/>
                </a:lnTo>
                <a:close/>
              </a:path>
            </a:pathLst>
          </a:custGeom>
          <a:blipFill>
            <a:blip r:embed="rId3"/>
            <a:stretch>
              <a:fillRect l="0" t="-616917"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82811" y="1005632"/>
            <a:ext cx="14847484" cy="810962"/>
          </a:xfrm>
          <a:prstGeom prst="rect">
            <a:avLst/>
          </a:prstGeom>
        </p:spPr>
        <p:txBody>
          <a:bodyPr anchor="t" rtlCol="false" tIns="0" lIns="0" bIns="0" rIns="0">
            <a:spAutoFit/>
          </a:bodyPr>
          <a:lstStyle/>
          <a:p>
            <a:pPr algn="l" marL="0" indent="0" lvl="0">
              <a:lnSpc>
                <a:spcPts val="6862"/>
              </a:lnSpc>
              <a:spcBef>
                <a:spcPct val="0"/>
              </a:spcBef>
            </a:pPr>
            <a:r>
              <a:rPr lang="en-US" b="true" sz="4477" spc="-223">
                <a:solidFill>
                  <a:srgbClr val="000054"/>
                </a:solidFill>
                <a:latin typeface="Aptos Bold"/>
                <a:ea typeface="Aptos Bold"/>
                <a:cs typeface="Aptos Bold"/>
                <a:sym typeface="Aptos Bold"/>
              </a:rPr>
              <a:t>TÀI LIỆU/THÔNG TIN ĐÍNH KÈM (NẾU CÓ)</a:t>
            </a:r>
          </a:p>
        </p:txBody>
      </p:sp>
      <p:sp>
        <p:nvSpPr>
          <p:cNvPr name="TextBox 3" id="3"/>
          <p:cNvSpPr txBox="true"/>
          <p:nvPr/>
        </p:nvSpPr>
        <p:spPr>
          <a:xfrm rot="0">
            <a:off x="714375" y="2027149"/>
            <a:ext cx="16868775" cy="4098408"/>
          </a:xfrm>
          <a:prstGeom prst="rect">
            <a:avLst/>
          </a:prstGeom>
        </p:spPr>
        <p:txBody>
          <a:bodyPr anchor="t" rtlCol="false" tIns="0" lIns="0" bIns="0" rIns="0">
            <a:spAutoFit/>
          </a:bodyPr>
          <a:lstStyle/>
          <a:p>
            <a:pPr algn="l" marL="653460" indent="-326730" lvl="1">
              <a:lnSpc>
                <a:spcPts val="4661"/>
              </a:lnSpc>
              <a:buFont typeface="Arial"/>
              <a:buChar char="•"/>
            </a:pPr>
            <a:r>
              <a:rPr lang="en-US" sz="3026">
                <a:solidFill>
                  <a:srgbClr val="000054"/>
                </a:solidFill>
                <a:latin typeface="Aptos"/>
                <a:ea typeface="Aptos"/>
                <a:cs typeface="Aptos"/>
                <a:sym typeface="Aptos"/>
              </a:rPr>
              <a:t>Thầy/cô có thể cung cấp tài liệu hay thông tin đính kèm với giải pháp. Ví dụ như:</a:t>
            </a:r>
          </a:p>
          <a:p>
            <a:pPr algn="l" marL="1306919" indent="-435640" lvl="2">
              <a:lnSpc>
                <a:spcPts val="4661"/>
              </a:lnSpc>
              <a:buFont typeface="Arial"/>
              <a:buChar char="⚬"/>
            </a:pPr>
            <a:r>
              <a:rPr lang="en-US" sz="3026">
                <a:solidFill>
                  <a:srgbClr val="000054"/>
                </a:solidFill>
                <a:latin typeface="Aptos"/>
                <a:ea typeface="Aptos"/>
                <a:cs typeface="Aptos"/>
                <a:sym typeface="Aptos"/>
              </a:rPr>
              <a:t>Đường dẫn tới thư mục Google Drive/ OneDrive chứa tài liệu đính kèm</a:t>
            </a:r>
          </a:p>
          <a:p>
            <a:pPr algn="l" marL="1306919" indent="-435640" lvl="2">
              <a:lnSpc>
                <a:spcPts val="4661"/>
              </a:lnSpc>
              <a:buFont typeface="Arial"/>
              <a:buChar char="⚬"/>
            </a:pPr>
            <a:r>
              <a:rPr lang="en-US" sz="3026">
                <a:solidFill>
                  <a:srgbClr val="000054"/>
                </a:solidFill>
                <a:latin typeface="Aptos"/>
                <a:ea typeface="Aptos"/>
                <a:cs typeface="Aptos"/>
                <a:sym typeface="Aptos"/>
              </a:rPr>
              <a:t>Đường dẫn tới YouTube video hoặc ảnh sử dụng kèm</a:t>
            </a:r>
          </a:p>
          <a:p>
            <a:pPr algn="l" marL="1306919" indent="-435640" lvl="2">
              <a:lnSpc>
                <a:spcPts val="4661"/>
              </a:lnSpc>
              <a:buFont typeface="Arial"/>
              <a:buChar char="⚬"/>
            </a:pPr>
            <a:r>
              <a:rPr lang="en-US" sz="3026">
                <a:solidFill>
                  <a:srgbClr val="000054"/>
                </a:solidFill>
                <a:latin typeface="Aptos"/>
                <a:ea typeface="Aptos"/>
                <a:cs typeface="Aptos"/>
                <a:sym typeface="Aptos"/>
              </a:rPr>
              <a:t>Nguồn tham khảo nếu có </a:t>
            </a:r>
          </a:p>
          <a:p>
            <a:pPr algn="l">
              <a:lnSpc>
                <a:spcPts val="4661"/>
              </a:lnSpc>
            </a:pPr>
          </a:p>
          <a:p>
            <a:pPr algn="l">
              <a:lnSpc>
                <a:spcPts val="4661"/>
              </a:lnSpc>
            </a:pPr>
            <a:r>
              <a:rPr lang="en-US" sz="3026">
                <a:solidFill>
                  <a:srgbClr val="000054"/>
                </a:solidFill>
                <a:latin typeface="Aptos"/>
                <a:ea typeface="Aptos"/>
                <a:cs typeface="Aptos"/>
                <a:sym typeface="Aptos"/>
              </a:rPr>
              <a:t>Lưu ý các đường dẫn cần được chia sẻ ở chế độ công khai. Khuyến khích thầy cô sử dụng các dịch vụ rút gọn tên đường dẫn như tinyurl hoặc bitly để cho ngắn gọn</a:t>
            </a:r>
          </a:p>
        </p:txBody>
      </p:sp>
      <p:sp>
        <p:nvSpPr>
          <p:cNvPr name="AutoShape 4" id="4"/>
          <p:cNvSpPr/>
          <p:nvPr/>
        </p:nvSpPr>
        <p:spPr>
          <a:xfrm flipV="true">
            <a:off x="714375" y="9182100"/>
            <a:ext cx="16868775" cy="0"/>
          </a:xfrm>
          <a:prstGeom prst="line">
            <a:avLst/>
          </a:prstGeom>
          <a:ln cap="flat" w="38100">
            <a:solidFill>
              <a:srgbClr val="E61E2A"/>
            </a:solidFill>
            <a:prstDash val="solid"/>
            <a:headEnd type="none" len="sm" w="sm"/>
            <a:tailEnd type="none" len="sm" w="sm"/>
          </a:ln>
        </p:spPr>
      </p:sp>
      <p:sp>
        <p:nvSpPr>
          <p:cNvPr name="Freeform 5" id="5"/>
          <p:cNvSpPr/>
          <p:nvPr/>
        </p:nvSpPr>
        <p:spPr>
          <a:xfrm flipH="false" flipV="false" rot="0">
            <a:off x="0" y="8919749"/>
            <a:ext cx="18288000" cy="1367251"/>
          </a:xfrm>
          <a:custGeom>
            <a:avLst/>
            <a:gdLst/>
            <a:ahLst/>
            <a:cxnLst/>
            <a:rect r="r" b="b" t="t" l="l"/>
            <a:pathLst>
              <a:path h="1367251" w="18288000">
                <a:moveTo>
                  <a:pt x="0" y="0"/>
                </a:moveTo>
                <a:lnTo>
                  <a:pt x="18288000" y="0"/>
                </a:lnTo>
                <a:lnTo>
                  <a:pt x="18288000" y="1367251"/>
                </a:lnTo>
                <a:lnTo>
                  <a:pt x="0" y="1367251"/>
                </a:lnTo>
                <a:lnTo>
                  <a:pt x="0" y="0"/>
                </a:lnTo>
                <a:close/>
              </a:path>
            </a:pathLst>
          </a:custGeom>
          <a:blipFill>
            <a:blip r:embed="rId3"/>
            <a:stretch>
              <a:fillRect l="0" t="-652385"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240722"/>
            <a:ext cx="18288000" cy="4572000"/>
          </a:xfrm>
          <a:custGeom>
            <a:avLst/>
            <a:gdLst/>
            <a:ahLst/>
            <a:cxnLst/>
            <a:rect r="r" b="b" t="t" l="l"/>
            <a:pathLst>
              <a:path h="4572000" w="18288000">
                <a:moveTo>
                  <a:pt x="0" y="0"/>
                </a:moveTo>
                <a:lnTo>
                  <a:pt x="18288000" y="0"/>
                </a:lnTo>
                <a:lnTo>
                  <a:pt x="18288000" y="4572000"/>
                </a:lnTo>
                <a:lnTo>
                  <a:pt x="0" y="4572000"/>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DAHYP6XVGao</dc:identifier>
  <dcterms:modified xsi:type="dcterms:W3CDTF">2011-08-01T06:04:30Z</dcterms:modified>
  <cp:revision>1</cp:revision>
  <dc:title>Copy of Mẫu Slide - Giải thưởng Tiên Phong Ứng dụng AI trong giáo dục Việt Nam 2026</dc:title>
</cp:coreProperties>
</file>